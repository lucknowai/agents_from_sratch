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9" r:id="rId9"/>
    <p:sldId id="270" r:id="rId10"/>
    <p:sldId id="262" r:id="rId11"/>
    <p:sldId id="271" r:id="rId12"/>
    <p:sldId id="272" r:id="rId13"/>
    <p:sldId id="273" r:id="rId14"/>
    <p:sldId id="264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75" r:id="rId24"/>
    <p:sldId id="274" r:id="rId25"/>
    <p:sldId id="265" r:id="rId26"/>
    <p:sldId id="266" r:id="rId27"/>
    <p:sldId id="267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3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36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E62B-A8F5-6255-1882-8B95837E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44A4D-AFF5-24D8-6A25-CE852D7C1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B72EE-B15D-B523-9EB8-D44BFE317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40164-2242-7AE7-360D-0FB2C2C99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55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6302-6092-2DF8-86EC-6C1E11AC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DC172-C9C7-C9CE-DF51-6D98A2C6F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BC209-AB0B-7BCE-F5E5-0DEC74917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92D8C-A9AD-F264-2152-79D79FA89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2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7D5A-F017-8551-35B5-FD172165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55D58-3B4D-BB5F-01AF-90FA021D7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EC36B-4A3C-AC39-0B71-09456B28C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3111A-6EFE-BBF6-1B99-43B507808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30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5240-53DC-6E68-CA3B-19B90EEF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78989-BE89-8F59-2E91-F1C1FF1D5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B8AEF-26EB-C257-EF03-C9DB70D10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D7FD5-34C2-DCB3-1232-75E31B16C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78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5ACD-B99B-FDA8-5503-A0373224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51E12-5D11-DFE0-FC42-523CC087B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9E111-987C-8EA0-2414-B5274CBE5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7C997-749E-0141-0B19-5EF93F6C3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69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0020-18F6-F13F-AFCE-FDEC09B8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46256-366D-F2FB-DD4A-C10B39478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48741-FDBB-D8F8-A717-4FED83B71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9FA3B-D598-8BE3-8AF9-0DA0675F3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83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F90A-3A41-1EBF-6738-CA4153BD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97E8A-74D3-8AAC-DC75-2A3D3DAA0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D42CB-3B3D-7696-8231-AE7A40A47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7955-BF11-70C6-20DC-EA30D9FB8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58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577C-3D89-DF71-9E03-E9A83B63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60DB3-B0EA-471F-EFA0-FB6B345E0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4CE6-DFA4-E90D-38EE-E98D74168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A01ED-9A1D-3C84-B3AA-3911D35D0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73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1A02-D2EE-AB2A-6D17-E1CBCC97A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AEE04-735E-B1D9-E512-8C99CBB73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3D28D-9B84-A16A-A476-E9E60D18B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B0CD7-01CC-7278-81D6-504B334C4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16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1837-914E-57DB-1E0C-68FCDACB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120A5-3B5B-0AB6-8545-975693BA5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EB393-0457-4112-89F3-68B0C66C5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AA8BD-7F61-E4EF-BB28-E5D97B34A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7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B813-76F4-9D69-1D49-B7D6F04C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05C94-C793-479E-9C3D-1FF80AB5F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73F18-8957-AD73-4B10-080EEE73C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AAE7B-FC7C-6666-4639-B54594D43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7D97-F613-C103-D4AF-87784199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E1008-30C5-8CFD-1542-A0406E063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EB4EF-373F-A161-E23A-A3DD71446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2E14-A7AF-5E4E-2B21-B10CD04FC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07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5060-6886-328D-C020-C7454667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AEC6A-2952-A993-10AA-4D330BB20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D5359-93F2-BA46-C24A-A5411D0FC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57938-8A95-F167-2959-38BE929BC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97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DCA1-B2A0-EE13-CDB8-45B93D9B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0234F-AC5F-D4DE-0F53-3E26E0B04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95ABF-EFAF-1F36-9605-1E35CDCEE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2B65F-8659-EBF3-814B-DD81C1172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772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172C-EF16-2219-D880-2F16A9249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675B4-2349-1368-BFFC-B4DDECDD4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E9034-E2E7-92A1-BF38-F9ECD93E9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5B79E-200F-EA55-C9B5-5257BA155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37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AA60-3021-E56B-63CB-A1DA0DCF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F1B22-BC06-A004-579C-06C2939AA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B6AA9-1BED-95D6-74CA-5BF51A1C0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04654-3C0C-ADEF-B042-483CD6875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77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9154" y="1262494"/>
            <a:ext cx="5715000" cy="198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Agents:
From Concept to Creation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509155" y="3262372"/>
            <a:ext cx="396120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Your First Agent from Scratch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09154" y="3608955"/>
            <a:ext cx="39612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Jam Series | AI Community Lucknow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11" y="4439251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07C38-F48B-3FD0-2A17-D085EC2C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91" y="4439251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006BE0-A7F0-4D72-21AC-FCD219526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409" y="4514686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Agents? Breaking the "Chatbot" Wall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198364"/>
            <a:ext cx="3857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548408"/>
            <a:ext cx="3857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are Brains, not Hands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1862733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can reason and generate text, but they cannot interact with the world directly.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434233"/>
            <a:ext cx="3857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"Knowledge" Gap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748558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LLMs lack real-time data access, tool integration, and long-term planning.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14875" y="1198364"/>
            <a:ext cx="3857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714875" y="1548408"/>
            <a:ext cx="3857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Agentic Shift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14875" y="1862733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bridge the gap between reasoning and execution by using tools to achieve goals.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29188" y="2948583"/>
            <a:ext cx="3429000" cy="18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109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204DAAB0-AC42-1EE6-E360-3E632279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429125"/>
            <a:ext cx="436243" cy="428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F88730-5FCD-E6DE-E072-419BCE4E2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982" y="4429125"/>
            <a:ext cx="566882" cy="4387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5F6448-A8B4-4C17-44FA-76A92A60F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228" y="4466842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the AI Agent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000125" y="1569839"/>
            <a:ext cx="7143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"An entity that perceives its environment, reasons about it, and takes actions to achieve specific goals."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1145679" y="2567062"/>
            <a:ext cx="6852642" cy="7000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1574304" y="2852812"/>
            <a:ext cx="712589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2429768" y="2886745"/>
            <a:ext cx="19645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2016" dirty="0"/>
          </a:p>
        </p:txBody>
      </p:sp>
      <p:sp>
        <p:nvSpPr>
          <p:cNvPr id="8" name="Text 5"/>
          <p:cNvSpPr/>
          <p:nvPr/>
        </p:nvSpPr>
        <p:spPr>
          <a:xfrm>
            <a:off x="2769096" y="2852812"/>
            <a:ext cx="92333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3835301" y="2886745"/>
            <a:ext cx="19645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2016" dirty="0"/>
          </a:p>
        </p:txBody>
      </p:sp>
      <p:sp>
        <p:nvSpPr>
          <p:cNvPr id="10" name="Text 7"/>
          <p:cNvSpPr/>
          <p:nvPr/>
        </p:nvSpPr>
        <p:spPr>
          <a:xfrm>
            <a:off x="4174629" y="2852812"/>
            <a:ext cx="149125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5808762" y="2886745"/>
            <a:ext cx="196453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2016" dirty="0"/>
          </a:p>
        </p:txBody>
      </p:sp>
      <p:sp>
        <p:nvSpPr>
          <p:cNvPr id="12" name="Text 9"/>
          <p:cNvSpPr/>
          <p:nvPr/>
        </p:nvSpPr>
        <p:spPr>
          <a:xfrm>
            <a:off x="6148090" y="2852812"/>
            <a:ext cx="142160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2436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580" y="3788643"/>
            <a:ext cx="214313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9768" y="3827934"/>
            <a:ext cx="55953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Analogy: A digital intern with access to your tools and experience.</a:t>
            </a:r>
            <a:endParaRPr lang="en-US" sz="1193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22686B39-5206-0A8C-6586-40AF536BA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429125"/>
            <a:ext cx="436243" cy="428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E7B32A-7930-FFE2-C109-472FAB855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982" y="4429125"/>
            <a:ext cx="566882" cy="438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7BFD9A-CA80-60AC-518E-0D18DA54C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6228" y="4466842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A509-9244-FE01-8BCD-2186E4F4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4478FA4-EFDD-1E67-B594-E408457609F7}"/>
              </a:ext>
            </a:extLst>
          </p:cNvPr>
          <p:cNvSpPr/>
          <p:nvPr/>
        </p:nvSpPr>
        <p:spPr>
          <a:xfrm>
            <a:off x="571500" y="428625"/>
            <a:ext cx="65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endParaRPr lang="en-US" sz="2862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C95F960-2C5C-B203-F9C5-00D645F9F2AC}"/>
              </a:ext>
            </a:extLst>
          </p:cNvPr>
          <p:cNvSpPr/>
          <p:nvPr/>
        </p:nvSpPr>
        <p:spPr>
          <a:xfrm>
            <a:off x="4174629" y="2852812"/>
            <a:ext cx="65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endParaRPr lang="en-US" sz="2436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A7BEE5-6FDD-0F25-6463-D17FC675C99E}"/>
              </a:ext>
            </a:extLst>
          </p:cNvPr>
          <p:cNvSpPr/>
          <p:nvPr/>
        </p:nvSpPr>
        <p:spPr>
          <a:xfrm>
            <a:off x="5808762" y="2886745"/>
            <a:ext cx="65" cy="327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endParaRPr lang="en-US" sz="2016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ABC187E-9B68-40CD-E2F9-C605004C8312}"/>
              </a:ext>
            </a:extLst>
          </p:cNvPr>
          <p:cNvSpPr/>
          <p:nvPr/>
        </p:nvSpPr>
        <p:spPr>
          <a:xfrm>
            <a:off x="6148090" y="2852812"/>
            <a:ext cx="65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endParaRPr lang="en-US" sz="2436" dirty="0"/>
          </a:p>
        </p:txBody>
      </p:sp>
      <p:pic>
        <p:nvPicPr>
          <p:cNvPr id="2050" name="Picture 2" descr="This may contain: a black and white panda bear sitting on its hind legs">
            <a:extLst>
              <a:ext uri="{FF2B5EF4-FFF2-40B4-BE49-F238E27FC236}">
                <a16:creationId xmlns:a16="http://schemas.microsoft.com/office/drawing/2014/main" id="{F50FAE79-CD3B-4C73-0E05-4C0B06893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127000"/>
            <a:ext cx="58547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19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the Machine: The Four Pillars</a:t>
            </a:r>
            <a:endParaRPr lang="en-US" sz="286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1239"/>
            <a:ext cx="3429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827014"/>
            <a:ext cx="128587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 (LLM)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571500" y="2189559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reasoning engine that processes information and makes decisions.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2703909"/>
            <a:ext cx="14394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GPT-4, Gemini, Claude</a:t>
            </a:r>
            <a:endParaRPr lang="en-US" sz="88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341239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14875" y="1827014"/>
            <a:ext cx="99119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1602" dirty="0"/>
          </a:p>
        </p:txBody>
      </p:sp>
      <p:sp>
        <p:nvSpPr>
          <p:cNvPr id="10" name="Text 5"/>
          <p:cNvSpPr/>
          <p:nvPr/>
        </p:nvSpPr>
        <p:spPr>
          <a:xfrm>
            <a:off x="4714875" y="2189559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complex goals into smaller, manageable steps using Chain of Thought.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714875" y="2703909"/>
            <a:ext cx="2328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Decomposition, Self-Reflection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45036"/>
            <a:ext cx="300038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500" y="3630811"/>
            <a:ext cx="94833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602" dirty="0"/>
          </a:p>
        </p:txBody>
      </p:sp>
      <p:sp>
        <p:nvSpPr>
          <p:cNvPr id="14" name="Text 8"/>
          <p:cNvSpPr/>
          <p:nvPr/>
        </p:nvSpPr>
        <p:spPr>
          <a:xfrm>
            <a:off x="571500" y="3993356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Storing information for short-term context or long-term retrieval.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71500" y="4507706"/>
            <a:ext cx="1828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Window, Vector DBs</a:t>
            </a:r>
            <a:endParaRPr lang="en-US" sz="88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145036"/>
            <a:ext cx="342900" cy="3429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14875" y="3630811"/>
            <a:ext cx="6143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602" dirty="0"/>
          </a:p>
        </p:txBody>
      </p:sp>
      <p:sp>
        <p:nvSpPr>
          <p:cNvPr id="18" name="Text 11"/>
          <p:cNvSpPr/>
          <p:nvPr/>
        </p:nvSpPr>
        <p:spPr>
          <a:xfrm>
            <a:off x="4714875" y="3993356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capabilities that allow the agent to interact with the real world.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714875" y="4507706"/>
            <a:ext cx="21949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APIs, Web Search, Code Execution</a:t>
            </a:r>
            <a:endParaRPr lang="en-US" sz="885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577C9-7F56-F655-090F-2AE99A9486E1}"/>
              </a:ext>
            </a:extLst>
          </p:cNvPr>
          <p:cNvSpPr txBox="1"/>
          <p:nvPr/>
        </p:nvSpPr>
        <p:spPr>
          <a:xfrm>
            <a:off x="7398327" y="349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Reasoning Loop: Plan → Act → Observe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508224" y="1968103"/>
            <a:ext cx="612755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2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REACT FRAMEWORK: REASONING + ACTING</a:t>
            </a:r>
            <a:endParaRPr lang="en-US" sz="160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7354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0626" y="3159323"/>
            <a:ext cx="8447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Thought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285750" y="3473648"/>
            <a:ext cx="1714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need to find the weather in Lucknow."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563" y="3139315"/>
            <a:ext cx="142875" cy="2286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413" y="2763543"/>
            <a:ext cx="257175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103959" y="3249318"/>
            <a:ext cx="65008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397" dirty="0"/>
          </a:p>
        </p:txBody>
      </p:sp>
      <p:sp>
        <p:nvSpPr>
          <p:cNvPr id="11" name="Text 5"/>
          <p:cNvSpPr/>
          <p:nvPr/>
        </p:nvSpPr>
        <p:spPr>
          <a:xfrm>
            <a:off x="2623542" y="3563643"/>
            <a:ext cx="161091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the Weather API tool.</a:t>
            </a:r>
            <a:endParaRPr lang="en-US" sz="942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3139315"/>
            <a:ext cx="142875" cy="2286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119" y="2673548"/>
            <a:ext cx="385763" cy="3429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293519" y="3159323"/>
            <a:ext cx="8429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1397" dirty="0"/>
          </a:p>
        </p:txBody>
      </p:sp>
      <p:sp>
        <p:nvSpPr>
          <p:cNvPr id="15" name="Text 7"/>
          <p:cNvSpPr/>
          <p:nvPr/>
        </p:nvSpPr>
        <p:spPr>
          <a:xfrm>
            <a:off x="4857750" y="3473648"/>
            <a:ext cx="1714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"It's 25°C and sunny in Lucknow."</a:t>
            </a:r>
            <a:endParaRPr lang="en-US" sz="942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3" y="3139315"/>
            <a:ext cx="142875" cy="2286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550" y="2673548"/>
            <a:ext cx="342900" cy="3429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654528" y="3159323"/>
            <a:ext cx="69294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</a:t>
            </a:r>
            <a:endParaRPr lang="en-US" sz="1397" dirty="0"/>
          </a:p>
        </p:txBody>
      </p:sp>
      <p:sp>
        <p:nvSpPr>
          <p:cNvPr id="19" name="Text 9"/>
          <p:cNvSpPr/>
          <p:nvPr/>
        </p:nvSpPr>
        <p:spPr>
          <a:xfrm>
            <a:off x="7143750" y="3473648"/>
            <a:ext cx="1714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Refines the plan or gives final answer.</a:t>
            </a:r>
            <a:endParaRPr lang="en-US" sz="942" dirty="0"/>
          </a:p>
        </p:txBody>
      </p:sp>
      <p:sp>
        <p:nvSpPr>
          <p:cNvPr id="21" name="Text 11"/>
          <p:cNvSpPr/>
          <p:nvPr/>
        </p:nvSpPr>
        <p:spPr>
          <a:xfrm>
            <a:off x="1285875" y="4425163"/>
            <a:ext cx="6429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iterative loop allows agents to solve complex, multi-step problems by observing the results of their own actions.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Choosing Your Tools: The Agent Frameworks</a:t>
            </a:r>
            <a:endParaRPr lang="en-US" sz="286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1968103"/>
            <a:ext cx="857250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6933" y="3039666"/>
            <a:ext cx="9322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PIONEER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1037630" y="3266480"/>
            <a:ext cx="121086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535781" y="3665474"/>
            <a:ext cx="257175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popular framework for building LLM applications and simple agentic chains.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1968103"/>
            <a:ext cx="857250" cy="857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81748" y="3039666"/>
            <a:ext cx="1180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 LOGIC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3950494" y="3266480"/>
            <a:ext cx="12430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3286125" y="3686175"/>
            <a:ext cx="257175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complex, cyclic, and multi-agent workflows with fine-grained control.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13" y="1968103"/>
            <a:ext cx="857250" cy="857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05302" y="3039666"/>
            <a:ext cx="15912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&amp; TYPE-SAFE</a:t>
            </a:r>
            <a:endParaRPr lang="en-US" sz="885" dirty="0"/>
          </a:p>
        </p:txBody>
      </p:sp>
      <p:sp>
        <p:nvSpPr>
          <p:cNvPr id="14" name="Text 8"/>
          <p:cNvSpPr/>
          <p:nvPr/>
        </p:nvSpPr>
        <p:spPr>
          <a:xfrm>
            <a:off x="6855321" y="3266480"/>
            <a:ext cx="129123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AI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6215063" y="3686175"/>
            <a:ext cx="257175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developer-first framework focusing on Python type safety and clean architecture.</a:t>
            </a:r>
            <a:endParaRPr lang="en-US" sz="105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04C0F402-FF7A-3261-DB74-0ABCF726F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78" y="4544886"/>
            <a:ext cx="436243" cy="42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FF9757-9F50-03CC-2D74-16F5A5B70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492" y="4544886"/>
            <a:ext cx="566882" cy="438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C15305-DE63-2691-6A41-8BC58B88F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4245" y="4630447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FD19-1C97-4E07-080B-2FB2E518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80D2E07-5548-099B-78E9-9A8D6B830794}"/>
              </a:ext>
            </a:extLst>
          </p:cNvPr>
          <p:cNvSpPr/>
          <p:nvPr/>
        </p:nvSpPr>
        <p:spPr>
          <a:xfrm>
            <a:off x="571500" y="428625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dirty="0"/>
              <a:t>Ab </a:t>
            </a:r>
            <a:r>
              <a:rPr lang="en-US" sz="2862" dirty="0" err="1"/>
              <a:t>kuch</a:t>
            </a:r>
            <a:r>
              <a:rPr lang="en-US" sz="2862" dirty="0"/>
              <a:t> code </a:t>
            </a:r>
            <a:r>
              <a:rPr lang="en-US" sz="2862" dirty="0" err="1"/>
              <a:t>kr</a:t>
            </a:r>
            <a:r>
              <a:rPr lang="en-US" sz="2862" dirty="0"/>
              <a:t> le ? </a:t>
            </a:r>
            <a:r>
              <a:rPr lang="en-US" sz="2862" dirty="0" err="1"/>
              <a:t>Batein</a:t>
            </a:r>
            <a:r>
              <a:rPr lang="en-US" sz="2862" dirty="0"/>
              <a:t> to </a:t>
            </a:r>
            <a:r>
              <a:rPr lang="en-US" sz="2862" dirty="0" err="1"/>
              <a:t>bhot</a:t>
            </a:r>
            <a:r>
              <a:rPr lang="en-US" sz="2862" dirty="0"/>
              <a:t> ho </a:t>
            </a:r>
            <a:r>
              <a:rPr lang="en-US" sz="2862" dirty="0" err="1"/>
              <a:t>gyi</a:t>
            </a:r>
            <a:r>
              <a:rPr lang="en-US" sz="2862" dirty="0"/>
              <a:t> ? </a:t>
            </a:r>
          </a:p>
        </p:txBody>
      </p:sp>
      <p:pic>
        <p:nvPicPr>
          <p:cNvPr id="4098" name="Picture 2" descr="Story pin image">
            <a:extLst>
              <a:ext uri="{FF2B5EF4-FFF2-40B4-BE49-F238E27FC236}">
                <a16:creationId xmlns:a16="http://schemas.microsoft.com/office/drawing/2014/main" id="{ED6E5C45-FC48-0012-FEFA-31365B9E2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183" y="1018727"/>
            <a:ext cx="3759633" cy="37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65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0365-2FD9-37DF-E934-11F90400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E487C4B-6D57-7FB5-FF60-F0F18313BA94}"/>
              </a:ext>
            </a:extLst>
          </p:cNvPr>
          <p:cNvSpPr/>
          <p:nvPr/>
        </p:nvSpPr>
        <p:spPr>
          <a:xfrm>
            <a:off x="571500" y="428625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dirty="0"/>
              <a:t>Travel Planning Agent – From Scratch – No Framework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2242A-F1EF-58AD-B0B9-8DD81D60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71" y="744120"/>
            <a:ext cx="3042805" cy="20961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3CAA5B-1B83-6B85-704E-8CECC7121664}"/>
              </a:ext>
            </a:extLst>
          </p:cNvPr>
          <p:cNvSpPr txBox="1"/>
          <p:nvPr/>
        </p:nvSpPr>
        <p:spPr>
          <a:xfrm>
            <a:off x="571499" y="3117273"/>
            <a:ext cx="35917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The LLM always replies with </a:t>
            </a:r>
            <a:r>
              <a:rPr lang="en-IN" sz="900" b="1" dirty="0"/>
              <a:t>one of two JSON shapes</a:t>
            </a:r>
            <a:r>
              <a:rPr lang="en-IN" sz="900" dirty="0"/>
              <a:t>: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CC073-EA8D-7074-1C1D-9CA59289C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3386554"/>
            <a:ext cx="4745182" cy="987651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05C98D22-429A-4D40-A06A-A2180BBD2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466842"/>
            <a:ext cx="436243" cy="428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BF4460-FD02-D149-ED2B-5BAAE5482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982" y="4429125"/>
            <a:ext cx="566882" cy="438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2112F-281E-1BAC-D242-2484EAAC90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6228" y="4466842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0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First Agent: The "No-Framework" Way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968103"/>
            <a:ext cx="34395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2180630"/>
            <a:ext cx="833883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LLM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/>
              <a:t>Set you LLM to be used as an Agent.</a:t>
            </a:r>
          </a:p>
        </p:txBody>
      </p:sp>
      <p:pic>
        <p:nvPicPr>
          <p:cNvPr id="20" name="Picture 1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FA1CFB5-45C7-EB8E-7FF1-F217D0F23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730" y="1223420"/>
            <a:ext cx="5492375" cy="3364291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99F69A4D-4CED-415D-4A0C-E3BBFEE8B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01" y="4495499"/>
            <a:ext cx="436243" cy="4286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ADF5CA-E945-9FEE-69E4-F1820D25D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81" y="4495499"/>
            <a:ext cx="566882" cy="4387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73D50DC-BC28-AEDF-E076-5F048BAA6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099" y="4570934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5226-F6D5-07BF-5B84-457B864D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7B6F44A-C050-C470-3FE3-61CA099C8870}"/>
              </a:ext>
            </a:extLst>
          </p:cNvPr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First Agent: The "No-Framework" Way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0C6387-2168-3974-A9BC-03C1838C90BB}"/>
              </a:ext>
            </a:extLst>
          </p:cNvPr>
          <p:cNvSpPr/>
          <p:nvPr/>
        </p:nvSpPr>
        <p:spPr>
          <a:xfrm>
            <a:off x="571500" y="1968103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88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6C1680-2D1E-3486-5A53-3F5DF32FCC28}"/>
              </a:ext>
            </a:extLst>
          </p:cNvPr>
          <p:cNvSpPr/>
          <p:nvPr/>
        </p:nvSpPr>
        <p:spPr>
          <a:xfrm>
            <a:off x="571500" y="2180630"/>
            <a:ext cx="834459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Tool</a:t>
            </a:r>
            <a:endParaRPr lang="en-US" sz="139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040A80-A289-22FC-E0E1-E7E1FA78B965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/>
              <a:t>Set up your tool which will be used by the agent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C83CFB6-7799-9D59-9308-58388DF36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987" y="1080655"/>
            <a:ext cx="4248290" cy="3903518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EA7D673-C92C-B510-224E-F1BF1A1A5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97" y="4495499"/>
            <a:ext cx="436243" cy="428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8EE18-162F-9D0D-FBDD-6D5467F05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77" y="4495499"/>
            <a:ext cx="566882" cy="4387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F4DBC4-6D1E-F3B0-F93E-C5FD6B43A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595" y="4570934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1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25FF-8975-65CB-E8F6-9E3547A1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FE17D07-C23E-68D0-CA4B-9B962CF4A653}"/>
              </a:ext>
            </a:extLst>
          </p:cNvPr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First Agent: The "No-Framework" Way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57E0B8-57F3-F3B4-D69C-27D227DE0A1A}"/>
              </a:ext>
            </a:extLst>
          </p:cNvPr>
          <p:cNvSpPr/>
          <p:nvPr/>
        </p:nvSpPr>
        <p:spPr>
          <a:xfrm>
            <a:off x="571500" y="1968103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2A0E673-A186-B9B7-74A7-B9EA0382F9F0}"/>
              </a:ext>
            </a:extLst>
          </p:cNvPr>
          <p:cNvSpPr/>
          <p:nvPr/>
        </p:nvSpPr>
        <p:spPr>
          <a:xfrm>
            <a:off x="571500" y="2180630"/>
            <a:ext cx="1082669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Prompt</a:t>
            </a:r>
            <a:endParaRPr lang="en-US" sz="139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96E51C-71B6-4621-CD8C-F0E90A1ABD1F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/>
              <a:t>Write your prompt which will instruct LLM what to do.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1C9EF9-D97E-398C-6A76-E6DE5192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512" y="1396603"/>
            <a:ext cx="5651943" cy="2840244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0F7E8DE-1FBE-1E46-BD91-A5D93EB52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84" y="4495499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367DBF-F665-6E8D-458D-1AC2AA26C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64" y="4495499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464AA6-860F-FB98-2059-2595D9E93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9082" y="4570934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EE29-9A60-369E-FCA3-5007B0A1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218A542-04E6-0C45-0E35-9AD5C56E1525}"/>
              </a:ext>
            </a:extLst>
          </p:cNvPr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First Agent: The "No-Framework" Way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5E543E-E67E-2DE4-45B1-EF312C59B70B}"/>
              </a:ext>
            </a:extLst>
          </p:cNvPr>
          <p:cNvSpPr/>
          <p:nvPr/>
        </p:nvSpPr>
        <p:spPr>
          <a:xfrm>
            <a:off x="571500" y="1968103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231EF5-421D-AF65-9466-3AFAEC20E6AF}"/>
              </a:ext>
            </a:extLst>
          </p:cNvPr>
          <p:cNvSpPr/>
          <p:nvPr/>
        </p:nvSpPr>
        <p:spPr>
          <a:xfrm>
            <a:off x="571500" y="2180630"/>
            <a:ext cx="939681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main </a:t>
            </a:r>
            <a:endParaRPr lang="en-US" sz="139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47D96F2-F61F-2CC2-BB2C-9188BEE4EFE1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/>
              <a:t>Set up main function that will connect everything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8F5CF41-40C5-4067-FF28-2EB7F809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927" y="969374"/>
            <a:ext cx="4787335" cy="3997989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7A0AF1C-0D95-175D-C014-C6A1A48D3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B10F00-BEF1-032C-A901-61A9EF657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CB5D26-7A23-93BC-FE0D-0D4DDF2C1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72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65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endParaRPr lang="en-US" sz="2862" dirty="0"/>
          </a:p>
        </p:txBody>
      </p:sp>
      <p:pic>
        <p:nvPicPr>
          <p:cNvPr id="6148" name="Picture 4" descr="This may contain: two men shaking hands in an office with bookshelves and desks behind them">
            <a:extLst>
              <a:ext uri="{FF2B5EF4-FFF2-40B4-BE49-F238E27FC236}">
                <a16:creationId xmlns:a16="http://schemas.microsoft.com/office/drawing/2014/main" id="{1B7F1632-F6A3-EBFA-CEDF-F429FB137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403" y="659810"/>
            <a:ext cx="2493097" cy="434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7957349-CC62-83B4-A1D9-5CA80D01FB7A}"/>
              </a:ext>
            </a:extLst>
          </p:cNvPr>
          <p:cNvSpPr txBox="1"/>
          <p:nvPr/>
        </p:nvSpPr>
        <p:spPr>
          <a:xfrm>
            <a:off x="1225407" y="2057401"/>
            <a:ext cx="3678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Congratulations now you know how to build agents from scratch. </a:t>
            </a:r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F9C573DC-C951-CEE6-C792-B0AE3BEA6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1" y="4566208"/>
            <a:ext cx="436243" cy="4286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A5A8B6-7326-0A69-856C-E425665DC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91" y="4566208"/>
            <a:ext cx="566882" cy="4387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7E93DED-C0AD-0CD0-3DF1-B9D798699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9809" y="4641643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13E75-D881-5158-8C71-1F854DF5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42F2B61-A2A2-391B-41F9-E3A3E66B895F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Langchain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114D863-567B-B95D-C60E-DAC757583434}"/>
              </a:ext>
            </a:extLst>
          </p:cNvPr>
          <p:cNvSpPr/>
          <p:nvPr/>
        </p:nvSpPr>
        <p:spPr>
          <a:xfrm>
            <a:off x="442354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E26C1C9-DC57-1624-648A-F653E8B07ED7}"/>
              </a:ext>
            </a:extLst>
          </p:cNvPr>
          <p:cNvSpPr/>
          <p:nvPr/>
        </p:nvSpPr>
        <p:spPr>
          <a:xfrm>
            <a:off x="442354" y="2143838"/>
            <a:ext cx="301185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dependencies and define imports </a:t>
            </a:r>
            <a:endParaRPr lang="en-US" sz="139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19CCF2F-C722-18BD-8DEB-C3F7E5BD08A0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75CC53EF-9C09-8640-3217-5CF8D3EA3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3DE83-2BE4-16A2-348A-E5B55BFC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DAB450-1F2B-28FC-AA25-391FB97AE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12" name="Picture 11" descr="A black rectangular sign with green text&#10;&#10;AI-generated content may be incorrect.">
            <a:extLst>
              <a:ext uri="{FF2B5EF4-FFF2-40B4-BE49-F238E27FC236}">
                <a16:creationId xmlns:a16="http://schemas.microsoft.com/office/drawing/2014/main" id="{E145795F-59F0-6581-49FD-FB84D08A3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746" y="1427335"/>
            <a:ext cx="3058681" cy="1229470"/>
          </a:xfrm>
          <a:prstGeom prst="rect">
            <a:avLst/>
          </a:prstGeom>
        </p:spPr>
      </p:pic>
      <p:pic>
        <p:nvPicPr>
          <p:cNvPr id="14" name="Picture 13" descr="A black rectangular object with yellow text&#10;&#10;AI-generated content may be incorrect.">
            <a:extLst>
              <a:ext uri="{FF2B5EF4-FFF2-40B4-BE49-F238E27FC236}">
                <a16:creationId xmlns:a16="http://schemas.microsoft.com/office/drawing/2014/main" id="{95297E27-5A80-D74E-5B73-52DEEE54CC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5746" y="2700867"/>
            <a:ext cx="4139738" cy="119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54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68BAF-F3C1-1BC8-86FA-D370DB5F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53DFB9E-6703-88DA-E369-90BAAFAD06AC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Langchain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59320C9-EC39-6CE7-D16E-C81C5385980A}"/>
              </a:ext>
            </a:extLst>
          </p:cNvPr>
          <p:cNvSpPr/>
          <p:nvPr/>
        </p:nvSpPr>
        <p:spPr>
          <a:xfrm>
            <a:off x="442354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615EBE8-C4A6-4B58-7913-0A57B6C359AC}"/>
              </a:ext>
            </a:extLst>
          </p:cNvPr>
          <p:cNvSpPr/>
          <p:nvPr/>
        </p:nvSpPr>
        <p:spPr>
          <a:xfrm>
            <a:off x="442354" y="2143838"/>
            <a:ext cx="144988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Initialize LLM object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F3A92-0576-40B4-98C7-71DE949C27DD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D43C568D-5741-B30D-539F-A4DB12C0E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DD7C14-CA5C-FC5F-BB60-7DE5F863B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53EE3-1651-E86D-7E65-CBA679576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7" name="Picture 6" descr="A black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C5367D99-C213-4893-E5AD-B9C5946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407" y="1635428"/>
            <a:ext cx="5777345" cy="186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6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7C3E-F8F2-EEC2-5932-08B1A23F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0358B44-BE6E-ACF7-51BA-CFEBD15628B4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Langchain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C1A408A-0755-B70A-6A29-5BC03E596DE7}"/>
              </a:ext>
            </a:extLst>
          </p:cNvPr>
          <p:cNvSpPr/>
          <p:nvPr/>
        </p:nvSpPr>
        <p:spPr>
          <a:xfrm>
            <a:off x="450667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80D1391-279D-F64F-9F7C-F79C30100AF0}"/>
              </a:ext>
            </a:extLst>
          </p:cNvPr>
          <p:cNvSpPr/>
          <p:nvPr/>
        </p:nvSpPr>
        <p:spPr>
          <a:xfrm>
            <a:off x="442354" y="2143838"/>
            <a:ext cx="82086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Define Tool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CDB9731-A058-E882-DDA8-E87D60FAA20B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84B275BD-A62B-7E4F-B3A8-FA6A0889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49F556-0D44-A65B-ABF6-52D2193FF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27EF23-0AE0-7FFB-DFE9-C56289182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8" name="Picture 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A3EADF3-E336-49FF-DCCD-66DAB6447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991074"/>
            <a:ext cx="4527402" cy="348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3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9E4F-1469-BED9-F1B1-AB4AB713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5CC842-9116-C20E-64B5-C4775CE46653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Langchain</a:t>
            </a:r>
            <a:endParaRPr lang="en-US" sz="2862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6C49EF-CFFA-5861-7128-BF341440F680}"/>
              </a:ext>
            </a:extLst>
          </p:cNvPr>
          <p:cNvSpPr/>
          <p:nvPr/>
        </p:nvSpPr>
        <p:spPr>
          <a:xfrm>
            <a:off x="450667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4C55A86-A3E9-A23F-D3D6-1C4E23DEDBD7}"/>
              </a:ext>
            </a:extLst>
          </p:cNvPr>
          <p:cNvSpPr/>
          <p:nvPr/>
        </p:nvSpPr>
        <p:spPr>
          <a:xfrm>
            <a:off x="442354" y="2143838"/>
            <a:ext cx="2155847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Agent Creation and execution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0F3D4F-8881-97FF-F8AD-84579294F9F3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E7F2B09-8C50-FBA2-6C4F-059201A01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132830-8B07-B9E4-EB15-69C606E2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ABC0C8-0CD6-7BEF-0E2A-2950DEAAB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E4D27FB-06B2-BE64-FC24-44EB2937D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527" y="956804"/>
            <a:ext cx="5214158" cy="381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24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1CBF0-6FFE-87ED-841C-D62C812F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441F48D-801F-722C-FB20-C14962C4C241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Pydantic</a:t>
            </a:r>
            <a:r>
              <a:rPr lang="en-US" sz="2862" dirty="0"/>
              <a:t> AI 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3896449-C592-CFDC-7580-72269575174D}"/>
              </a:ext>
            </a:extLst>
          </p:cNvPr>
          <p:cNvSpPr/>
          <p:nvPr/>
        </p:nvSpPr>
        <p:spPr>
          <a:xfrm>
            <a:off x="442354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C7B54C0-F91F-108A-52F8-A19CDB2DDC0F}"/>
              </a:ext>
            </a:extLst>
          </p:cNvPr>
          <p:cNvSpPr/>
          <p:nvPr/>
        </p:nvSpPr>
        <p:spPr>
          <a:xfrm>
            <a:off x="442354" y="2143838"/>
            <a:ext cx="301185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dependencies and define imports </a:t>
            </a:r>
            <a:endParaRPr lang="en-US" sz="139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2F72113-23A7-F9F1-3680-32CE9E8A7E83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B143EC6-19B6-21B5-9DDE-C63FEC4A8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903DB9-0289-7CB7-6BF3-8646D77F7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60CACA-E37A-DCE6-9A4A-4A55DF317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7" name="Picture 6" descr="A black rectangular with colorful text&#10;&#10;AI-generated content may be incorrect.">
            <a:extLst>
              <a:ext uri="{FF2B5EF4-FFF2-40B4-BE49-F238E27FC236}">
                <a16:creationId xmlns:a16="http://schemas.microsoft.com/office/drawing/2014/main" id="{444D65DB-73D4-F45B-16DE-C3B9BF28A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4087" y="2907404"/>
            <a:ext cx="3049561" cy="1856995"/>
          </a:xfrm>
          <a:prstGeom prst="rect">
            <a:avLst/>
          </a:prstGeom>
        </p:spPr>
      </p:pic>
      <p:pic>
        <p:nvPicPr>
          <p:cNvPr id="13" name="Picture 12" descr="A black rectangular with yellow and green text&#10;&#10;AI-generated content may be incorrect.">
            <a:extLst>
              <a:ext uri="{FF2B5EF4-FFF2-40B4-BE49-F238E27FC236}">
                <a16:creationId xmlns:a16="http://schemas.microsoft.com/office/drawing/2014/main" id="{F34D824B-CDD0-748D-A96E-5B2F99BD5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1585" y="1159519"/>
            <a:ext cx="3062063" cy="15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87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99A4-FD4A-93E7-B5D4-75862F33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46FB5A-C62F-3C21-2638-163393DB934D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Pydantic</a:t>
            </a:r>
            <a:r>
              <a:rPr lang="en-US" sz="2862" dirty="0"/>
              <a:t> AI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68D10C-5140-1A60-9D43-15257EDAC0E6}"/>
              </a:ext>
            </a:extLst>
          </p:cNvPr>
          <p:cNvSpPr/>
          <p:nvPr/>
        </p:nvSpPr>
        <p:spPr>
          <a:xfrm>
            <a:off x="442354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B2A4B4-E4FF-7AB3-B02D-6A625B2F4791}"/>
              </a:ext>
            </a:extLst>
          </p:cNvPr>
          <p:cNvSpPr/>
          <p:nvPr/>
        </p:nvSpPr>
        <p:spPr>
          <a:xfrm>
            <a:off x="442354" y="2143838"/>
            <a:ext cx="1078052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Initialize Agent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82AEA4-992C-3B0E-8E75-341F311E3617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F0D935E-DDB0-1DC0-B9B4-3EC2A7D65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F5708C-B761-BD00-2128-E4098E9CE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7BFE3A-DE57-B2D3-B734-78B7DF5C3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8" name="Picture 7" descr="A black and orange text on a black background&#10;&#10;AI-generated content may be incorrect.">
            <a:extLst>
              <a:ext uri="{FF2B5EF4-FFF2-40B4-BE49-F238E27FC236}">
                <a16:creationId xmlns:a16="http://schemas.microsoft.com/office/drawing/2014/main" id="{5D8B5B9B-646D-4157-83A2-C6025CB8B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0080" y="1690998"/>
            <a:ext cx="5812195" cy="157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1F91-85FE-4FC8-41E8-ADF36DC76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51FAE3-7E6A-B096-401A-7158595FC036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Pydantic</a:t>
            </a:r>
            <a:r>
              <a:rPr lang="en-US" sz="2862" dirty="0"/>
              <a:t> AI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4B7A4DE-D859-CD9C-6319-E6A247B4FBB2}"/>
              </a:ext>
            </a:extLst>
          </p:cNvPr>
          <p:cNvSpPr/>
          <p:nvPr/>
        </p:nvSpPr>
        <p:spPr>
          <a:xfrm>
            <a:off x="450667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C9F6B6B-AE3D-188A-AFBD-D65A7E802D96}"/>
              </a:ext>
            </a:extLst>
          </p:cNvPr>
          <p:cNvSpPr/>
          <p:nvPr/>
        </p:nvSpPr>
        <p:spPr>
          <a:xfrm>
            <a:off x="442354" y="2143838"/>
            <a:ext cx="82086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Define Tool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0CBEB09-F60E-DC39-714C-CD7A0ACFD849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B453B979-6913-3119-C376-D534FDC9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6ACAB9-2EC3-7CD1-7821-36A8DA4E1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EC6D09-4703-7467-2587-473AB9BCF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0E491F0-6840-1748-FA8F-B05D73219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852" y="922950"/>
            <a:ext cx="5393504" cy="346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68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D639-5A71-93C9-AD92-4B055B94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6AF5937-2A90-8C28-85E9-27FB5CE7B2F1}"/>
              </a:ext>
            </a:extLst>
          </p:cNvPr>
          <p:cNvSpPr/>
          <p:nvPr/>
        </p:nvSpPr>
        <p:spPr>
          <a:xfrm>
            <a:off x="442354" y="294378"/>
            <a:ext cx="8572500" cy="4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dirty="0"/>
              <a:t>Building Agent Using </a:t>
            </a:r>
            <a:r>
              <a:rPr lang="en-US" sz="2862" dirty="0" err="1"/>
              <a:t>Pydantic</a:t>
            </a:r>
            <a:r>
              <a:rPr lang="en-US" sz="2862" dirty="0"/>
              <a:t> AI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C86CF99-739A-D078-D35D-5223E0C57238}"/>
              </a:ext>
            </a:extLst>
          </p:cNvPr>
          <p:cNvSpPr/>
          <p:nvPr/>
        </p:nvSpPr>
        <p:spPr>
          <a:xfrm>
            <a:off x="450667" y="1959166"/>
            <a:ext cx="310150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58A752-6826-E724-3133-CD8B5C2100AF}"/>
              </a:ext>
            </a:extLst>
          </p:cNvPr>
          <p:cNvSpPr/>
          <p:nvPr/>
        </p:nvSpPr>
        <p:spPr>
          <a:xfrm>
            <a:off x="442354" y="2143838"/>
            <a:ext cx="1178849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dirty="0"/>
              <a:t>Agent execution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F95B407-F490-A1FD-6481-2D6460B3E80A}"/>
              </a:ext>
            </a:extLst>
          </p:cNvPr>
          <p:cNvSpPr/>
          <p:nvPr/>
        </p:nvSpPr>
        <p:spPr>
          <a:xfrm>
            <a:off x="571500" y="2480667"/>
            <a:ext cx="3439576" cy="176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A5071EC-D9CB-BEDF-AB7C-A5621D82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8" y="4550087"/>
            <a:ext cx="436243" cy="428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333095-36D3-A8E9-79E5-8D3C67A89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8" y="4550087"/>
            <a:ext cx="566882" cy="438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6256E-E204-C64D-4BEB-AAF1C083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966" y="4625522"/>
            <a:ext cx="1366441" cy="353190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D3E1EDC-AAF0-8B08-B85E-9959C701A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780" y="1588827"/>
            <a:ext cx="5180549" cy="195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40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0ECF7"/>
            </a:gs>
            <a:gs pos="0">
              <a:schemeClr val="accent5">
                <a:lumMod val="5000"/>
                <a:lumOff val="9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8186E-618C-C8EE-1248-38F63007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4085FC5-497D-4684-DDE6-0AC471C803F8}"/>
              </a:ext>
            </a:extLst>
          </p:cNvPr>
          <p:cNvSpPr/>
          <p:nvPr/>
        </p:nvSpPr>
        <p:spPr>
          <a:xfrm>
            <a:off x="571500" y="428625"/>
            <a:ext cx="65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endParaRPr lang="en-US" sz="2862" dirty="0"/>
          </a:p>
        </p:txBody>
      </p:sp>
      <p:pic>
        <p:nvPicPr>
          <p:cNvPr id="8194" name="Picture 2" descr="Story pin image">
            <a:extLst>
              <a:ext uri="{FF2B5EF4-FFF2-40B4-BE49-F238E27FC236}">
                <a16:creationId xmlns:a16="http://schemas.microsoft.com/office/drawing/2014/main" id="{729C04EB-4A83-A6A2-1E3E-9974B05F8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633" y="2063983"/>
            <a:ext cx="3134733" cy="29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97CEE7-1245-943A-9EBE-20307DA59228}"/>
              </a:ext>
            </a:extLst>
          </p:cNvPr>
          <p:cNvSpPr txBox="1"/>
          <p:nvPr/>
        </p:nvSpPr>
        <p:spPr>
          <a:xfrm>
            <a:off x="2757054" y="214745"/>
            <a:ext cx="3990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Jaldi</a:t>
            </a:r>
            <a:r>
              <a:rPr lang="en-US" dirty="0"/>
              <a:t> </a:t>
            </a:r>
            <a:r>
              <a:rPr lang="en-US" dirty="0" err="1"/>
              <a:t>Jaldi</a:t>
            </a:r>
            <a:r>
              <a:rPr lang="en-US" dirty="0"/>
              <a:t> LinkedIn update </a:t>
            </a:r>
            <a:r>
              <a:rPr lang="en-US" dirty="0" err="1"/>
              <a:t>kr</a:t>
            </a:r>
            <a:r>
              <a:rPr lang="en-US" dirty="0"/>
              <a:t> Deta hu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031EF-13F6-027E-604F-A4E306414ED7}"/>
              </a:ext>
            </a:extLst>
          </p:cNvPr>
          <p:cNvSpPr txBox="1"/>
          <p:nvPr/>
        </p:nvSpPr>
        <p:spPr>
          <a:xfrm>
            <a:off x="1995052" y="824345"/>
            <a:ext cx="56663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AI Agents | Autonomous Systems | Multi-Agent Architectures | LLM Orchestration | Agentic Workflows | Decision Engines | Tool Integration | Memory Systems | Planning &amp; Reasoning | </a:t>
            </a:r>
            <a:r>
              <a:rPr lang="en-US" sz="1100" dirty="0" err="1"/>
              <a:t>LangChain</a:t>
            </a:r>
            <a:r>
              <a:rPr lang="en-US" sz="1100" dirty="0"/>
              <a:t> | </a:t>
            </a:r>
            <a:r>
              <a:rPr lang="en-US" sz="1100" dirty="0" err="1"/>
              <a:t>LangGraph</a:t>
            </a:r>
            <a:r>
              <a:rPr lang="en-US" sz="1100" dirty="0"/>
              <a:t> | </a:t>
            </a:r>
            <a:r>
              <a:rPr lang="en-US" sz="1100" dirty="0" err="1"/>
              <a:t>Pydantic</a:t>
            </a:r>
            <a:r>
              <a:rPr lang="en-US" sz="1100" dirty="0"/>
              <a:t> AI | Prompt Engineering | RAG Pipelines | AI Automation | Conversational AI | Generative AI | Python | </a:t>
            </a:r>
            <a:r>
              <a:rPr lang="en-US" sz="1100" dirty="0" err="1"/>
              <a:t>FastAPI</a:t>
            </a:r>
            <a:r>
              <a:rPr lang="en-US" sz="1100" dirty="0"/>
              <a:t> | Scalable AI Systems | Production AI | Workflow Automation | Intelligent Systems | AI Infrastructure | Human-AI Interaction | Applied AI Engineering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784FAC3-9580-6951-3D67-0A8712520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15" y="4598457"/>
            <a:ext cx="436243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243CB3-7216-D5F6-3BDF-32AAE43C3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95" y="4598457"/>
            <a:ext cx="566882" cy="438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61785-78FE-F013-1575-B383B9607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13" y="4673892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A9A2-C27E-6A76-DCD4-6EC4C199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842FE72-725B-E982-677F-D31EE4F0FF85}"/>
              </a:ext>
            </a:extLst>
          </p:cNvPr>
          <p:cNvSpPr/>
          <p:nvPr/>
        </p:nvSpPr>
        <p:spPr>
          <a:xfrm>
            <a:off x="571500" y="428625"/>
            <a:ext cx="857250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"Agentic" Trap: Common Mistakes</a:t>
            </a:r>
            <a:endParaRPr lang="en-US" sz="2862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AF6A477-3755-75A5-2D02-3A7FA6D0C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1239"/>
            <a:ext cx="285750" cy="28575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40152B3-A886-1979-56D0-633F493F7544}"/>
              </a:ext>
            </a:extLst>
          </p:cNvPr>
          <p:cNvSpPr/>
          <p:nvPr/>
        </p:nvSpPr>
        <p:spPr>
          <a:xfrm>
            <a:off x="571500" y="1769864"/>
            <a:ext cx="134838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Infinite Loops</a:t>
            </a:r>
            <a:endParaRPr lang="en-US" sz="1397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3613F32-7855-5B94-174A-F51389095388}"/>
              </a:ext>
            </a:extLst>
          </p:cNvPr>
          <p:cNvSpPr/>
          <p:nvPr/>
        </p:nvSpPr>
        <p:spPr>
          <a:xfrm>
            <a:off x="571500" y="2098477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getting stuck repeating the same action without progress.</a:t>
            </a:r>
            <a:endParaRPr lang="en-US" sz="942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6341283-64CB-3E2A-AF5C-D326411227FE}"/>
              </a:ext>
            </a:extLst>
          </p:cNvPr>
          <p:cNvSpPr/>
          <p:nvPr/>
        </p:nvSpPr>
        <p:spPr>
          <a:xfrm>
            <a:off x="571500" y="2569964"/>
            <a:ext cx="20734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SET MAX_ITERATIONS LIMIT</a:t>
            </a:r>
            <a:endParaRPr lang="en-US" sz="784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F8542C03-9AD1-D0F5-F77F-2BE629974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341239"/>
            <a:ext cx="214313" cy="28575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EF0BBED4-CD8D-95DD-088B-78857DE8E40D}"/>
              </a:ext>
            </a:extLst>
          </p:cNvPr>
          <p:cNvSpPr/>
          <p:nvPr/>
        </p:nvSpPr>
        <p:spPr>
          <a:xfrm>
            <a:off x="4786313" y="1769864"/>
            <a:ext cx="19020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Hallucinating Tools</a:t>
            </a:r>
            <a:endParaRPr lang="en-US" sz="1397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70B68A5-4733-3A9A-49E3-755CE8089A9B}"/>
              </a:ext>
            </a:extLst>
          </p:cNvPr>
          <p:cNvSpPr/>
          <p:nvPr/>
        </p:nvSpPr>
        <p:spPr>
          <a:xfrm>
            <a:off x="4786313" y="2098477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trying to use a tool that doesn't exist or has wrong parameters.</a:t>
            </a:r>
            <a:endParaRPr lang="en-US" sz="942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436973E-70A4-D01E-AF3B-324B903A4F9C}"/>
              </a:ext>
            </a:extLst>
          </p:cNvPr>
          <p:cNvSpPr/>
          <p:nvPr/>
        </p:nvSpPr>
        <p:spPr>
          <a:xfrm>
            <a:off x="4786313" y="2569964"/>
            <a:ext cx="20770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USE STRICT JSON SCHEMAS</a:t>
            </a:r>
            <a:endParaRPr lang="en-US" sz="784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06BF0BA8-833C-E54A-006C-F8F1EACD1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36106"/>
            <a:ext cx="178594" cy="28575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064A5CEE-F03B-C024-B6B6-C2D5DAD0B21A}"/>
              </a:ext>
            </a:extLst>
          </p:cNvPr>
          <p:cNvSpPr/>
          <p:nvPr/>
        </p:nvSpPr>
        <p:spPr>
          <a:xfrm>
            <a:off x="571500" y="3564731"/>
            <a:ext cx="14805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&amp; Latency</a:t>
            </a:r>
            <a:endParaRPr lang="en-US" sz="1397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03AE7B2-38CF-413B-20AB-E081A506DF37}"/>
              </a:ext>
            </a:extLst>
          </p:cNvPr>
          <p:cNvSpPr/>
          <p:nvPr/>
        </p:nvSpPr>
        <p:spPr>
          <a:xfrm>
            <a:off x="571500" y="3893344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reasoning step costs tokens and adds time to the final response.</a:t>
            </a:r>
            <a:endParaRPr lang="en-US" sz="942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76E708A-B139-4DEC-9E6A-191160D4C8B0}"/>
              </a:ext>
            </a:extLst>
          </p:cNvPr>
          <p:cNvSpPr/>
          <p:nvPr/>
        </p:nvSpPr>
        <p:spPr>
          <a:xfrm>
            <a:off x="571500" y="4364831"/>
            <a:ext cx="21288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OPTIMIZE PROMPTS &amp; TOOLS</a:t>
            </a:r>
            <a:endParaRPr lang="en-US" sz="784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0E3433D5-9A3C-6C28-8F50-4661E26C9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136106"/>
            <a:ext cx="357188" cy="28575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735490DA-632C-0442-F2C1-BD5DC73180CB}"/>
              </a:ext>
            </a:extLst>
          </p:cNvPr>
          <p:cNvSpPr/>
          <p:nvPr/>
        </p:nvSpPr>
        <p:spPr>
          <a:xfrm>
            <a:off x="4786313" y="3564731"/>
            <a:ext cx="142517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Risks</a:t>
            </a:r>
            <a:endParaRPr lang="en-US" sz="1397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2E6ABAA-8251-02BE-1D87-B10265DBE2CD}"/>
              </a:ext>
            </a:extLst>
          </p:cNvPr>
          <p:cNvSpPr/>
          <p:nvPr/>
        </p:nvSpPr>
        <p:spPr>
          <a:xfrm>
            <a:off x="4786313" y="3893344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executing harmful code or accessing sensitive data without oversight.</a:t>
            </a:r>
            <a:endParaRPr lang="en-US" sz="942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4F21B40-4E89-586F-9348-F34B6318D631}"/>
              </a:ext>
            </a:extLst>
          </p:cNvPr>
          <p:cNvSpPr/>
          <p:nvPr/>
        </p:nvSpPr>
        <p:spPr>
          <a:xfrm>
            <a:off x="4786313" y="4364831"/>
            <a:ext cx="16752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HUMAN-IN-THE-LOOP</a:t>
            </a:r>
            <a:endParaRPr lang="en-US" sz="784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15621A97-51EE-C541-F547-68D75FA48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4" y="4664869"/>
            <a:ext cx="436243" cy="4286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17D538-36F6-D16C-AA44-A3CE2A5B57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014" y="4664869"/>
            <a:ext cx="566882" cy="4387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F68169-A635-703C-2674-177B13F840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8532" y="4740304"/>
            <a:ext cx="1366441" cy="3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14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Today: The Rise of Multi-Agent Systems</a:t>
            </a:r>
            <a:endParaRPr lang="en-US" sz="286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3" y="2110978"/>
            <a:ext cx="5715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8105" y="2782491"/>
            <a:ext cx="216991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Teams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357188" y="3202186"/>
            <a:ext cx="2571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agents collaborating: </a:t>
            </a: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+ Coder + Reviewer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working as a unified workforce.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2110978"/>
            <a:ext cx="5715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88841" y="2782491"/>
            <a:ext cx="196631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Ops</a:t>
            </a:r>
            <a:endParaRPr lang="en-US" sz="1602" dirty="0"/>
          </a:p>
        </p:txBody>
      </p:sp>
      <p:sp>
        <p:nvSpPr>
          <p:cNvPr id="9" name="Text 4"/>
          <p:cNvSpPr/>
          <p:nvPr/>
        </p:nvSpPr>
        <p:spPr>
          <a:xfrm>
            <a:off x="3286125" y="3202186"/>
            <a:ext cx="2571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that run </a:t>
            </a: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managing complex business processes and research without constant human oversight.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338" y="2110978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63320" y="2782491"/>
            <a:ext cx="187523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1602" dirty="0"/>
          </a:p>
        </p:txBody>
      </p:sp>
      <p:sp>
        <p:nvSpPr>
          <p:cNvPr id="12" name="Text 6"/>
          <p:cNvSpPr/>
          <p:nvPr/>
        </p:nvSpPr>
        <p:spPr>
          <a:xfrm>
            <a:off x="6215063" y="3202186"/>
            <a:ext cx="2571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industry is shifting towards </a:t>
            </a: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Automation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demand for agent developers is exploding.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2356030" y="4225528"/>
            <a:ext cx="4750594" cy="296466"/>
          </a:xfrm>
          <a:prstGeom prst="rect">
            <a:avLst/>
          </a:prstGeom>
          <a:noFill/>
          <a:ln/>
        </p:spPr>
        <p:txBody>
          <a:bodyPr wrap="square" lIns="340233" tIns="127508" rIns="340233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future isn't just one agent; it's teams of agents."</a:t>
            </a:r>
            <a:endParaRPr lang="en-US" sz="109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45E53988-50AD-2802-E245-8BCB3266C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0" y="4630936"/>
            <a:ext cx="436243" cy="428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E5FAAD-D0E4-7BA1-7D63-E3A3C457F6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30936"/>
            <a:ext cx="566882" cy="438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7D1644-1764-9898-F24B-3AF10640F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018" y="4706371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Roadmap: How to Start Today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1357313" y="1341239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8" y="1512689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14563" y="1341239"/>
            <a:ext cx="55721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Master the Basics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2214563" y="1641277"/>
            <a:ext cx="5572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Deepen your Python skills, understand REST APIs, and learn the fundamentals of Prompt Engineering.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1357313" y="2384227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763" y="255567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14563" y="2384227"/>
            <a:ext cx="55721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Learn a Framework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2214563" y="2684264"/>
            <a:ext cx="5572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tool like LangChain or Pydantic AI. Build simple chains before moving to complex agents.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1357313" y="3427214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763" y="359866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14563" y="3427214"/>
            <a:ext cx="55721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Build &amp; Deploy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2214563" y="3727252"/>
            <a:ext cx="5572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real-world projects: a personal research assistant, a coding bot, or an automated CLI tool.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1357313" y="4470202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188" y="4641652"/>
            <a:ext cx="2857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214563" y="4470202"/>
            <a:ext cx="55721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Join the Community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2214563" y="4770239"/>
            <a:ext cx="5572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active in AI Community Lucknow. Share your builds, ask questions, and collaborate on projects.</a:t>
            </a:r>
            <a:endParaRPr lang="en-US" sz="94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7984" y="881779"/>
            <a:ext cx="7108031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the Future Together!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1893987" y="1578294"/>
            <a:ext cx="5356027" cy="78581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2"/>
          <p:cNvSpPr/>
          <p:nvPr/>
        </p:nvSpPr>
        <p:spPr>
          <a:xfrm>
            <a:off x="2108299" y="1849757"/>
            <a:ext cx="492740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Takeaway: Agents = Brains + Tools + Memory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2047091" y="2691407"/>
            <a:ext cx="45094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NEXT STEP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317254" y="3142776"/>
            <a:ext cx="450949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your first agent this weekend!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3602236" y="3855365"/>
            <a:ext cx="193952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436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573" y="4700588"/>
            <a:ext cx="319906" cy="314325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2C0FD02B-DCD1-C9CE-B160-D5BCD3FF0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556" y="4659796"/>
            <a:ext cx="436243" cy="428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9A6CC0-8A72-CB3F-F1A3-54E631CC5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236" y="4659796"/>
            <a:ext cx="566882" cy="438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02C2B5-7211-062D-FC36-EF079C8C5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754" y="4735231"/>
            <a:ext cx="1366441" cy="353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964</Words>
  <Application>Microsoft Macintosh PowerPoint</Application>
  <PresentationFormat>On-screen Show (16:9)</PresentationFormat>
  <Paragraphs>164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Aayush Sharma</cp:lastModifiedBy>
  <cp:revision>6</cp:revision>
  <dcterms:created xsi:type="dcterms:W3CDTF">2026-02-25T18:30:30Z</dcterms:created>
  <dcterms:modified xsi:type="dcterms:W3CDTF">2026-02-27T17:30:11Z</dcterms:modified>
</cp:coreProperties>
</file>